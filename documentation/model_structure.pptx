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92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0"/>
    <p:restoredTop sz="94703"/>
  </p:normalViewPr>
  <p:slideViewPr>
    <p:cSldViewPr snapToGrid="0">
      <p:cViewPr varScale="1">
        <p:scale>
          <a:sx n="69" d="100"/>
          <a:sy n="69" d="100"/>
        </p:scale>
        <p:origin x="22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6F2B4-4EE2-4D43-96E2-ED49BE61CE83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FC99A-9EFB-B646-B917-832B6E5EE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16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Possible model scenarios under potential revised structure:</a:t>
            </a:r>
            <a:r>
              <a:rPr lang="en-US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If there is interest in more complex analyses, we could possibly make custom changes to the model structure; for example, adding a separate compartment to specify those who are on LAI ART (see figure below). This would allow those individuals to retain their suppression for a longer period because LAI would not be subject to disengagement rate (or a much lower disengagement rate). With this new structure, we could model the following scenarios (mirroring the cohorts used in the </a:t>
            </a:r>
            <a:r>
              <a:rPr lang="en-US" sz="12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AFINAty</a:t>
            </a:r>
            <a:r>
              <a:rPr lang="en-US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study):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</a:pPr>
            <a:r>
              <a:rPr lang="en-US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Cohort 1: Offering LAI to those who are virally suppressed (purple arrow 7 below)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</a:pPr>
            <a:r>
              <a:rPr lang="en-US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Cohort 2: Offering LAI to those unsuppressed but engaged (orange arrow 8 below)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</a:pPr>
            <a:r>
              <a:rPr lang="en-US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Cohort 3: Offering LAI to ART naïve (green arrow 9 below)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40DD7-8C6B-064B-A1A5-5415C68B51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56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B55F9-415D-E421-16B6-5E1AB5DF5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99634-3FEE-5521-E08C-D72213ECE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B6A86-F2DE-DAAE-84DE-8960C2D82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774AD-EC99-D789-1830-4306B5E22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87ACC-59FC-2B6F-0302-F1288A1B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042D-BC94-44DD-411B-C4D85738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5F297-7D99-19DB-FE76-2F4906EE9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3AAAE-33D6-66E7-1EF8-00BCA0D9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373DC-2D8C-C80D-5E96-EDB3CB36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A4A67-1569-CA48-FEC9-6516DCF0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9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B145-8723-989A-3627-BC7085098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188AB-F19A-2532-E720-6B58B001F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C2625-D95E-D50E-9ECD-71A5221C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D1028-45CF-820F-DC4F-029E5491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C4A60-7056-E667-5E96-29FC1B71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1E19-13EB-0538-4D98-548786CE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EFB0F-480D-8316-A881-FB7609141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450DE-8103-4D36-F467-9B851CF7B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24CAE-C07B-F19E-43E8-45685EC67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78D40-9930-A070-7BD0-8C11FF97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A4653-C2BB-CB19-0AB0-AD22ECDF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9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B4B6-7591-BF9E-267D-03498A43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55E20-8F5C-7C02-6786-255CC7D74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83357-A90A-D30E-7B0F-00B8C209A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309116-8356-AA8F-048A-B416D359E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8CEB6-5623-288C-27B9-AD9E4E56EE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156D8-AEDF-D19D-0657-B56B52E74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55E7D-2EAF-2E16-5C21-F38658E5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17D5F-8433-1F84-CB66-EA9FC562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9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94B2-206F-9A2F-0D34-1C10C2B5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054C7-9239-C3CE-8D7E-466D3870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B93E1-BAB7-B719-D64B-3C4A02F6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A1109-78B5-DEED-B5EA-6730BAC9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1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00AE2D-C6D7-5863-1DB8-D9076B2D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C2C6B-378C-1DA6-031D-4957EAF4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FFFF0-2FDB-FCB0-2989-8C04B0A9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77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8E13-D29C-6A45-DD0B-ACBBBD375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A61A3-231D-D403-8BB3-C0AD91851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4C81E-1CBC-CE57-2C23-C15FDB108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5AC52-68F1-D646-1170-F8B968A3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8688E-675D-946D-336C-EA0D31A6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19FEC-499F-1CAE-A6F7-575B3805E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8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704FD-45BB-EC01-7040-D33DED841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CC7F1-1EEA-9F01-2A63-E558B7306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A8A98-14AC-6B69-AD88-E62D6E302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BF2BC-70B6-9D2B-7880-D5EEC39C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C5EEC-443B-F952-477A-4E05F619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A845B-2FC9-8521-0AC6-BDA23AB4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18B9-43B1-BEF5-D82A-6ECA64E8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1CBC0-BC3B-4044-71F4-49DDA9030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5C75F-C975-E1AE-3A06-D7898590A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1F2E8-DEF1-BE59-DC71-C0480AB9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F42FC-1435-6421-4820-344C61F7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20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4763F-7732-F214-EF62-FC36A62CD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70658-47C6-63EE-FD91-E5B5E18AE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6C122-04EE-957B-997D-A2D387FB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9CB55-E42C-49CA-532B-0B319389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5B36B-7784-A636-3948-7F437089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33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365769"/>
            <a:ext cx="10811280" cy="832559"/>
          </a:xfrm>
          <a:prstGeom prst="rect">
            <a:avLst/>
          </a:prstGeom>
        </p:spPr>
        <p:txBody>
          <a:bodyPr vert="horz"/>
          <a:lstStyle>
            <a:lvl1pPr algn="l">
              <a:buNone/>
              <a:defRPr sz="4100">
                <a:solidFill>
                  <a:schemeClr val="tx2"/>
                </a:solidFill>
                <a:latin typeface="Helvetica" pitchFamily="2" charset="0"/>
                <a:cs typeface="Helvetica" pitchFamily="2" charset="0"/>
              </a:defRPr>
            </a:lvl1pPr>
          </a:lstStyle>
          <a:p>
            <a:pPr lvl="0"/>
            <a:r>
              <a:rPr lang="en-US" dirty="0"/>
              <a:t>Slide Header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n>
                <a:solidFill>
                  <a:schemeClr val="accent1"/>
                </a:solidFill>
              </a:ln>
              <a:solidFill>
                <a:schemeClr val="accent1"/>
              </a:solidFill>
              <a:latin typeface="Helvetica" pitchFamily="2" charset="0"/>
            </a:endParaRP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768096" y="1371600"/>
            <a:ext cx="10811280" cy="4242816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accent5"/>
                </a:solidFill>
                <a:latin typeface="Helvetica" pitchFamily="2" charset="0"/>
                <a:cs typeface="Tahoma"/>
              </a:defRPr>
            </a:lvl1pPr>
            <a:lvl2pPr>
              <a:defRPr sz="1600">
                <a:solidFill>
                  <a:schemeClr val="accent4"/>
                </a:solidFill>
                <a:latin typeface="Tahoma"/>
                <a:cs typeface="Tahoma"/>
              </a:defRPr>
            </a:lvl2pPr>
            <a:lvl3pPr>
              <a:defRPr sz="1600">
                <a:solidFill>
                  <a:schemeClr val="accent4"/>
                </a:solidFill>
                <a:latin typeface="Tahoma"/>
                <a:cs typeface="Tahoma"/>
              </a:defRPr>
            </a:lvl3pPr>
            <a:lvl4pPr>
              <a:defRPr sz="1600">
                <a:solidFill>
                  <a:schemeClr val="accent4"/>
                </a:solidFill>
                <a:latin typeface="Tahoma"/>
                <a:cs typeface="Tahoma"/>
              </a:defRPr>
            </a:lvl4pPr>
            <a:lvl5pPr>
              <a:defRPr sz="1600">
                <a:solidFill>
                  <a:schemeClr val="accent4"/>
                </a:solidFill>
                <a:latin typeface="Tahoma"/>
                <a:cs typeface="Tahoma"/>
              </a:defRPr>
            </a:lvl5pPr>
          </a:lstStyle>
          <a:p>
            <a:pPr lvl="0"/>
            <a:r>
              <a:rPr lang="en-US" dirty="0"/>
              <a:t>Copy here</a:t>
            </a:r>
          </a:p>
        </p:txBody>
      </p:sp>
    </p:spTree>
    <p:extLst>
      <p:ext uri="{BB962C8B-B14F-4D97-AF65-F5344CB8AC3E}">
        <p14:creationId xmlns:p14="http://schemas.microsoft.com/office/powerpoint/2010/main" val="162395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441418-D61B-0E57-F28C-A07CEB39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F7491-D283-0DAC-1B5C-FDAF5BEBA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2172D-9311-46C0-1AB7-D1F8DC5B7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E376D-FD4B-0B44-ADA7-9A16B8AB0BAD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A1893-BD04-B996-1C33-491532B43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6AE92-AD52-1A2C-E081-C94BE43A7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11D4B-A548-0E4C-9047-860BFD8FB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51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DD865FC-89F8-80BF-0FC5-AA22A4AFFA4B}"/>
              </a:ext>
            </a:extLst>
          </p:cNvPr>
          <p:cNvSpPr txBox="1">
            <a:spLocks/>
          </p:cNvSpPr>
          <p:nvPr/>
        </p:nvSpPr>
        <p:spPr>
          <a:xfrm>
            <a:off x="768096" y="365769"/>
            <a:ext cx="10668000" cy="832559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4100" kern="1200">
                <a:solidFill>
                  <a:schemeClr val="tx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100" b="0" i="0" u="none" strike="noStrike" kern="1200" cap="none" spc="0" normalizeH="0" baseline="0" noProof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  <a:ea typeface="+mn-ea"/>
              </a:rPr>
              <a:t>Model structure</a:t>
            </a:r>
            <a:endParaRPr kumimoji="0" lang="en-US" sz="4100" b="0" i="0" u="none" strike="noStrike" kern="1200" cap="none" spc="0" normalizeH="0" baseline="0" noProof="0" dirty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Helvetica" pitchFamily="2" charset="0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8A64C-B042-3CDA-19FA-FDB1781F7BEB}"/>
              </a:ext>
            </a:extLst>
          </p:cNvPr>
          <p:cNvSpPr txBox="1"/>
          <p:nvPr/>
        </p:nvSpPr>
        <p:spPr>
          <a:xfrm>
            <a:off x="905060" y="3160377"/>
            <a:ext cx="48199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2D72"/>
                </a:solidFill>
                <a:latin typeface="Helvetica" pitchFamily="2" charset="0"/>
              </a:rPr>
              <a:t>Transitions along the continuum of care: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HIV incidence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HIV diagnosis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Engagement in care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Disengagement from care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Gain of viral suppression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Loss of viral suppression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9B134-8921-9B1D-ACE0-1B5D67E52315}"/>
              </a:ext>
            </a:extLst>
          </p:cNvPr>
          <p:cNvSpPr txBox="1"/>
          <p:nvPr/>
        </p:nvSpPr>
        <p:spPr>
          <a:xfrm>
            <a:off x="6622478" y="3160377"/>
            <a:ext cx="4819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2D72"/>
                </a:solidFill>
                <a:latin typeface="Helvetica" pitchFamily="2" charset="0"/>
              </a:rPr>
              <a:t>Strata: </a:t>
            </a:r>
          </a:p>
          <a:p>
            <a:r>
              <a:rPr lang="en-US" b="1" dirty="0">
                <a:solidFill>
                  <a:srgbClr val="002D72"/>
                </a:solidFill>
                <a:latin typeface="Helvetica" pitchFamily="2" charset="0"/>
              </a:rPr>
              <a:t>Age:</a:t>
            </a: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 0-4, 5-9, 10-14, … 75-79, 80+ </a:t>
            </a:r>
          </a:p>
          <a:p>
            <a:r>
              <a:rPr lang="en-US" b="1" dirty="0">
                <a:solidFill>
                  <a:srgbClr val="002D72"/>
                </a:solidFill>
                <a:latin typeface="Helvetica" pitchFamily="2" charset="0"/>
              </a:rPr>
              <a:t>Sex:</a:t>
            </a: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 Male, female</a:t>
            </a:r>
          </a:p>
          <a:p>
            <a:r>
              <a:rPr lang="en-US" b="1" dirty="0">
                <a:solidFill>
                  <a:srgbClr val="002D72"/>
                </a:solidFill>
                <a:latin typeface="Helvetica" pitchFamily="2" charset="0"/>
              </a:rPr>
              <a:t>Risk:</a:t>
            </a: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 Not stratified by risk group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4105A9-76F4-AEB6-D893-C01FE58292F3}"/>
              </a:ext>
            </a:extLst>
          </p:cNvPr>
          <p:cNvGrpSpPr/>
          <p:nvPr/>
        </p:nvGrpSpPr>
        <p:grpSpPr>
          <a:xfrm>
            <a:off x="905060" y="1118521"/>
            <a:ext cx="10381880" cy="1437721"/>
            <a:chOff x="905060" y="1118521"/>
            <a:chExt cx="10381880" cy="143772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4DDC83-46FA-DE89-0324-9067929C1480}"/>
                </a:ext>
              </a:extLst>
            </p:cNvPr>
            <p:cNvGrpSpPr/>
            <p:nvPr/>
          </p:nvGrpSpPr>
          <p:grpSpPr>
            <a:xfrm>
              <a:off x="905060" y="1768207"/>
              <a:ext cx="10381880" cy="762228"/>
              <a:chOff x="881863" y="5404148"/>
              <a:chExt cx="10381880" cy="762228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9AE8E3C-CDA7-5FCF-63A3-2B31E0782EA8}"/>
                  </a:ext>
                </a:extLst>
              </p:cNvPr>
              <p:cNvSpPr/>
              <p:nvPr/>
            </p:nvSpPr>
            <p:spPr>
              <a:xfrm>
                <a:off x="2988514" y="5408999"/>
                <a:ext cx="1639062" cy="754380"/>
              </a:xfrm>
              <a:prstGeom prst="rect">
                <a:avLst/>
              </a:prstGeom>
              <a:solidFill>
                <a:srgbClr val="418EDF">
                  <a:lumMod val="20000"/>
                  <a:lumOff val="80000"/>
                </a:srgbClr>
              </a:solidFill>
              <a:ln w="28575" cap="flat" cmpd="sng" algn="ctr">
                <a:solidFill>
                  <a:srgbClr val="002D7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78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itchFamily="2" charset="0"/>
                    <a:cs typeface="Arial" panose="020B0604020202020204" pitchFamily="34" charset="0"/>
                  </a:rPr>
                  <a:t>HIV-positive, Undiagnosed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B80055F-7599-46E8-7B52-9362FF782F9C}"/>
                  </a:ext>
                </a:extLst>
              </p:cNvPr>
              <p:cNvSpPr/>
              <p:nvPr/>
            </p:nvSpPr>
            <p:spPr>
              <a:xfrm>
                <a:off x="7371212" y="5411996"/>
                <a:ext cx="1639062" cy="754380"/>
              </a:xfrm>
              <a:prstGeom prst="rect">
                <a:avLst/>
              </a:prstGeom>
              <a:solidFill>
                <a:srgbClr val="418EDF">
                  <a:lumMod val="20000"/>
                  <a:lumOff val="80000"/>
                </a:srgbClr>
              </a:solidFill>
              <a:ln w="28575" cap="flat" cmpd="sng" algn="ctr">
                <a:solidFill>
                  <a:srgbClr val="002D7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78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itchFamily="2" charset="0"/>
                    <a:cs typeface="Arial" panose="020B0604020202020204" pitchFamily="34" charset="0"/>
                  </a:rPr>
                  <a:t>Engaged,</a:t>
                </a:r>
              </a:p>
              <a:p>
                <a:pPr marL="0" marR="0" lvl="0" indent="0" algn="ctr" defTabSz="68578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itchFamily="2" charset="0"/>
                    <a:cs typeface="Arial" panose="020B0604020202020204" pitchFamily="34" charset="0"/>
                  </a:rPr>
                  <a:t>Unsuppressed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8505EDE-29F5-BE25-CB6B-BD18646DADC7}"/>
                  </a:ext>
                </a:extLst>
              </p:cNvPr>
              <p:cNvSpPr/>
              <p:nvPr/>
            </p:nvSpPr>
            <p:spPr>
              <a:xfrm>
                <a:off x="881863" y="5408999"/>
                <a:ext cx="1639062" cy="754380"/>
              </a:xfrm>
              <a:prstGeom prst="rect">
                <a:avLst/>
              </a:prstGeom>
              <a:solidFill>
                <a:srgbClr val="418EDF">
                  <a:lumMod val="20000"/>
                  <a:lumOff val="80000"/>
                </a:srgbClr>
              </a:solidFill>
              <a:ln w="28575" cap="flat" cmpd="sng" algn="ctr">
                <a:solidFill>
                  <a:srgbClr val="002D7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78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2" charset="0"/>
                    <a:cs typeface="Arial" panose="020B0604020202020204" pitchFamily="34" charset="0"/>
                  </a:rPr>
                  <a:t>HIV-negative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AB63138-5F36-B2BB-079B-8FDF71E6DE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9233" y="5631865"/>
                <a:ext cx="615448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2D72"/>
                </a:solidFill>
                <a:prstDash val="solid"/>
                <a:tailEnd type="triangle" w="lg" len="med"/>
              </a:ln>
              <a:effectLst/>
            </p:spPr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0BCB918-F806-7829-7FE9-0B80E0D03F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9233" y="5872789"/>
                <a:ext cx="615448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2D72"/>
                </a:solidFill>
                <a:prstDash val="solid"/>
                <a:tailEnd type="triangle" w="lg" len="med"/>
              </a:ln>
              <a:effectLst/>
            </p:spPr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EC8F9C9-40A2-494C-9360-C4F8BDC4B3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56803" y="5664419"/>
                <a:ext cx="614408" cy="1498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2D72"/>
                </a:solidFill>
                <a:prstDash val="solid"/>
                <a:tailEnd type="triangle" w="lg" len="med"/>
              </a:ln>
              <a:effectLst/>
            </p:spPr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2E36C2A3-D397-039A-85FE-3D84DA6407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56803" y="5872789"/>
                <a:ext cx="614408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2D72"/>
                </a:solidFill>
                <a:prstDash val="solid"/>
                <a:tailEnd type="triangle" w="lg" len="med"/>
              </a:ln>
              <a:effectLst/>
            </p:spPr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E71AA5FD-CF48-42FE-581A-0813566263BC}"/>
                  </a:ext>
                </a:extLst>
              </p:cNvPr>
              <p:cNvCxnSpPr>
                <a:cxnSpLocks/>
                <a:stCxn id="16" idx="3"/>
                <a:endCxn id="25" idx="1"/>
              </p:cNvCxnSpPr>
              <p:nvPr/>
            </p:nvCxnSpPr>
            <p:spPr>
              <a:xfrm>
                <a:off x="4627576" y="5786189"/>
                <a:ext cx="490166" cy="1499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2D72"/>
                </a:solidFill>
                <a:prstDash val="solid"/>
                <a:tailEnd type="triangle" w="lg" len="med"/>
              </a:ln>
              <a:effectLst/>
            </p:spPr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9AF5CFE3-B3E0-EAE8-3AD6-33CE1EC5EAC8}"/>
                  </a:ext>
                </a:extLst>
              </p:cNvPr>
              <p:cNvCxnSpPr>
                <a:cxnSpLocks/>
                <a:stCxn id="18" idx="3"/>
                <a:endCxn id="16" idx="1"/>
              </p:cNvCxnSpPr>
              <p:nvPr/>
            </p:nvCxnSpPr>
            <p:spPr>
              <a:xfrm>
                <a:off x="2520925" y="5786189"/>
                <a:ext cx="467589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2D72"/>
                </a:solidFill>
                <a:prstDash val="solid"/>
                <a:tailEnd type="triangle" w="lg" len="med"/>
              </a:ln>
              <a:effectLst/>
            </p:spPr>
          </p:cxn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50EF145-66F6-3F55-6806-6E7FBA028B60}"/>
                  </a:ext>
                </a:extLst>
              </p:cNvPr>
              <p:cNvSpPr/>
              <p:nvPr/>
            </p:nvSpPr>
            <p:spPr>
              <a:xfrm>
                <a:off x="5117742" y="5410498"/>
                <a:ext cx="1639062" cy="754380"/>
              </a:xfrm>
              <a:prstGeom prst="rect">
                <a:avLst/>
              </a:prstGeom>
              <a:solidFill>
                <a:srgbClr val="418EDF">
                  <a:lumMod val="20000"/>
                  <a:lumOff val="80000"/>
                </a:srgbClr>
              </a:solidFill>
              <a:ln w="28575" cap="flat" cmpd="sng" algn="ctr">
                <a:solidFill>
                  <a:srgbClr val="002D7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78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itchFamily="2" charset="0"/>
                    <a:cs typeface="Arial" panose="020B0604020202020204" pitchFamily="34" charset="0"/>
                  </a:rPr>
                  <a:t>Diagnosed,</a:t>
                </a:r>
              </a:p>
              <a:p>
                <a:pPr marL="0" marR="0" lvl="0" indent="0" algn="ctr" defTabSz="68578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itchFamily="2" charset="0"/>
                    <a:cs typeface="Arial" panose="020B0604020202020204" pitchFamily="34" charset="0"/>
                  </a:rPr>
                  <a:t>Unengaged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D963E73-B89E-7DFA-475D-CFCA83984546}"/>
                  </a:ext>
                </a:extLst>
              </p:cNvPr>
              <p:cNvSpPr/>
              <p:nvPr/>
            </p:nvSpPr>
            <p:spPr>
              <a:xfrm>
                <a:off x="9624681" y="5410498"/>
                <a:ext cx="1639062" cy="754380"/>
              </a:xfrm>
              <a:prstGeom prst="rect">
                <a:avLst/>
              </a:prstGeom>
              <a:solidFill>
                <a:srgbClr val="418EDF">
                  <a:lumMod val="20000"/>
                  <a:lumOff val="80000"/>
                </a:srgbClr>
              </a:solidFill>
              <a:ln w="28575" cap="flat" cmpd="sng" algn="ctr">
                <a:solidFill>
                  <a:srgbClr val="002D7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78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itchFamily="2" charset="0"/>
                    <a:cs typeface="Arial" panose="020B0604020202020204" pitchFamily="34" charset="0"/>
                  </a:rPr>
                  <a:t>Engaged,</a:t>
                </a:r>
              </a:p>
              <a:p>
                <a:pPr marL="0" marR="0" lvl="0" indent="0" algn="ctr" defTabSz="68578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itchFamily="2" charset="0"/>
                    <a:cs typeface="Arial" panose="020B0604020202020204" pitchFamily="34" charset="0"/>
                  </a:rPr>
                  <a:t>Suppressed</a:t>
                </a:r>
              </a:p>
            </p:txBody>
          </p:sp>
          <p:cxnSp>
            <p:nvCxnSpPr>
              <p:cNvPr id="27" name="Elbow Connector 26">
                <a:extLst>
                  <a:ext uri="{FF2B5EF4-FFF2-40B4-BE49-F238E27FC236}">
                    <a16:creationId xmlns:a16="http://schemas.microsoft.com/office/drawing/2014/main" id="{F6EEE542-2829-422D-4CCA-CE855873A61E}"/>
                  </a:ext>
                </a:extLst>
              </p:cNvPr>
              <p:cNvCxnSpPr/>
              <p:nvPr/>
            </p:nvCxnSpPr>
            <p:spPr>
              <a:xfrm rot="16200000" flipV="1">
                <a:off x="8190743" y="3157028"/>
                <a:ext cx="12700" cy="4506939"/>
              </a:xfrm>
              <a:prstGeom prst="bentConnector3">
                <a:avLst>
                  <a:gd name="adj1" fmla="val 2369150"/>
                </a:avLst>
              </a:prstGeom>
              <a:noFill/>
              <a:ln w="38100" cap="flat" cmpd="sng" algn="ctr">
                <a:solidFill>
                  <a:srgbClr val="002D72"/>
                </a:solidFill>
                <a:prstDash val="solid"/>
                <a:tailEnd type="triangle"/>
              </a:ln>
              <a:effectLst/>
            </p:spPr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36DE11-9D3E-8556-6ED3-9485A422D414}"/>
                </a:ext>
              </a:extLst>
            </p:cNvPr>
            <p:cNvSpPr txBox="1"/>
            <p:nvPr/>
          </p:nvSpPr>
          <p:spPr>
            <a:xfrm>
              <a:off x="2571020" y="1842035"/>
              <a:ext cx="4406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2D72"/>
                  </a:solidFill>
                  <a:effectLst/>
                  <a:uLnTx/>
                  <a:uFillTx/>
                  <a:latin typeface="Helvetica" pitchFamily="2" charset="0"/>
                </a:rPr>
                <a:t>(1)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F29F73-5981-D4AE-B0B5-241396F01604}"/>
                </a:ext>
              </a:extLst>
            </p:cNvPr>
            <p:cNvSpPr txBox="1"/>
            <p:nvPr/>
          </p:nvSpPr>
          <p:spPr>
            <a:xfrm>
              <a:off x="4675510" y="1842035"/>
              <a:ext cx="4406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2D72"/>
                  </a:solidFill>
                  <a:effectLst/>
                  <a:uLnTx/>
                  <a:uFillTx/>
                  <a:latin typeface="Helvetica" pitchFamily="2" charset="0"/>
                </a:rPr>
                <a:t>(2)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BAD173-0D84-B776-3B9F-94E7AC4709B7}"/>
                </a:ext>
              </a:extLst>
            </p:cNvPr>
            <p:cNvSpPr txBox="1"/>
            <p:nvPr/>
          </p:nvSpPr>
          <p:spPr>
            <a:xfrm>
              <a:off x="6880390" y="1703935"/>
              <a:ext cx="4406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2D72"/>
                  </a:solidFill>
                  <a:effectLst/>
                  <a:uLnTx/>
                  <a:uFillTx/>
                  <a:latin typeface="Helvetica" pitchFamily="2" charset="0"/>
                </a:rPr>
                <a:t>(3)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31E798-5F81-0FFA-6F2A-DC7B3D19DFFD}"/>
                </a:ext>
              </a:extLst>
            </p:cNvPr>
            <p:cNvSpPr txBox="1"/>
            <p:nvPr/>
          </p:nvSpPr>
          <p:spPr>
            <a:xfrm>
              <a:off x="6880390" y="2248465"/>
              <a:ext cx="4406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2D72"/>
                  </a:solidFill>
                  <a:effectLst/>
                  <a:uLnTx/>
                  <a:uFillTx/>
                  <a:latin typeface="Helvetica" pitchFamily="2" charset="0"/>
                </a:rPr>
                <a:t>(4)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4F632C-F778-652A-28DF-591863FCEFA8}"/>
                </a:ext>
              </a:extLst>
            </p:cNvPr>
            <p:cNvSpPr txBox="1"/>
            <p:nvPr/>
          </p:nvSpPr>
          <p:spPr>
            <a:xfrm>
              <a:off x="7999944" y="1118521"/>
              <a:ext cx="4406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2D72"/>
                  </a:solidFill>
                  <a:effectLst/>
                  <a:uLnTx/>
                  <a:uFillTx/>
                  <a:latin typeface="Helvetica" pitchFamily="2" charset="0"/>
                </a:rPr>
                <a:t>(4)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AD5874-C50D-8295-4760-BD4A75ABAB16}"/>
                </a:ext>
              </a:extLst>
            </p:cNvPr>
            <p:cNvSpPr txBox="1"/>
            <p:nvPr/>
          </p:nvSpPr>
          <p:spPr>
            <a:xfrm>
              <a:off x="9137977" y="1703935"/>
              <a:ext cx="4406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2D72"/>
                  </a:solidFill>
                  <a:effectLst/>
                  <a:uLnTx/>
                  <a:uFillTx/>
                  <a:latin typeface="Helvetica" pitchFamily="2" charset="0"/>
                </a:rPr>
                <a:t>(5)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37ECC4-443C-303E-131F-864578F15BE4}"/>
                </a:ext>
              </a:extLst>
            </p:cNvPr>
            <p:cNvSpPr txBox="1"/>
            <p:nvPr/>
          </p:nvSpPr>
          <p:spPr>
            <a:xfrm>
              <a:off x="9141986" y="2248465"/>
              <a:ext cx="4406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2D72"/>
                  </a:solidFill>
                  <a:effectLst/>
                  <a:uLnTx/>
                  <a:uFillTx/>
                  <a:latin typeface="Helvetica" pitchFamily="2" charset="0"/>
                </a:rPr>
                <a:t>(6)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7332ABA-37A2-8D75-8B74-4D5340F30F4E}"/>
              </a:ext>
            </a:extLst>
          </p:cNvPr>
          <p:cNvSpPr/>
          <p:nvPr/>
        </p:nvSpPr>
        <p:spPr>
          <a:xfrm>
            <a:off x="393895" y="984738"/>
            <a:ext cx="11479237" cy="4909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04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ED896-CE82-4D08-72CC-F256932BD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ED9DEFC-6974-0652-B02F-ABA823173D10}"/>
              </a:ext>
            </a:extLst>
          </p:cNvPr>
          <p:cNvSpPr txBox="1">
            <a:spLocks/>
          </p:cNvSpPr>
          <p:nvPr/>
        </p:nvSpPr>
        <p:spPr>
          <a:xfrm>
            <a:off x="768096" y="365769"/>
            <a:ext cx="10668000" cy="832559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4100" kern="1200">
                <a:solidFill>
                  <a:schemeClr val="tx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100" b="0" i="0" u="none" strike="noStrike" kern="1200" cap="none" spc="0" normalizeH="0" baseline="0" noProof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  <a:ea typeface="+mn-ea"/>
              </a:rPr>
              <a:t>Model structure</a:t>
            </a:r>
            <a:endParaRPr kumimoji="0" lang="en-US" sz="4100" b="0" i="0" u="none" strike="noStrike" kern="1200" cap="none" spc="0" normalizeH="0" baseline="0" noProof="0" dirty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Helvetica" pitchFamily="2" charset="0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3CC44-2852-E4A2-58C2-555D892A3EB8}"/>
              </a:ext>
            </a:extLst>
          </p:cNvPr>
          <p:cNvSpPr txBox="1"/>
          <p:nvPr/>
        </p:nvSpPr>
        <p:spPr>
          <a:xfrm>
            <a:off x="2571020" y="1842035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F5A6B9-70A3-6242-91DC-83F43F0960A2}"/>
              </a:ext>
            </a:extLst>
          </p:cNvPr>
          <p:cNvSpPr txBox="1"/>
          <p:nvPr/>
        </p:nvSpPr>
        <p:spPr>
          <a:xfrm>
            <a:off x="4675510" y="1842035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FE1F7-8C09-789A-780A-0E0E191DFC9B}"/>
              </a:ext>
            </a:extLst>
          </p:cNvPr>
          <p:cNvSpPr txBox="1"/>
          <p:nvPr/>
        </p:nvSpPr>
        <p:spPr>
          <a:xfrm>
            <a:off x="6880390" y="1651980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32F3F-4610-7145-BC87-BE52FA16A74F}"/>
              </a:ext>
            </a:extLst>
          </p:cNvPr>
          <p:cNvSpPr txBox="1"/>
          <p:nvPr/>
        </p:nvSpPr>
        <p:spPr>
          <a:xfrm>
            <a:off x="6880390" y="2263248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954CAC-5346-F551-8427-4EE724A26969}"/>
              </a:ext>
            </a:extLst>
          </p:cNvPr>
          <p:cNvSpPr txBox="1"/>
          <p:nvPr/>
        </p:nvSpPr>
        <p:spPr>
          <a:xfrm>
            <a:off x="7999944" y="1118521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(4)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F69A52-F9EF-80A6-DCCD-3DF9E96DDC85}"/>
              </a:ext>
            </a:extLst>
          </p:cNvPr>
          <p:cNvSpPr txBox="1"/>
          <p:nvPr/>
        </p:nvSpPr>
        <p:spPr>
          <a:xfrm>
            <a:off x="9137977" y="1651980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4C5CE5-6A8C-37C0-0359-F2CA1BEF6432}"/>
              </a:ext>
            </a:extLst>
          </p:cNvPr>
          <p:cNvSpPr txBox="1"/>
          <p:nvPr/>
        </p:nvSpPr>
        <p:spPr>
          <a:xfrm>
            <a:off x="9141986" y="2329236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(6)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9AED5-537C-2FA1-A764-484676F1A763}"/>
              </a:ext>
            </a:extLst>
          </p:cNvPr>
          <p:cNvSpPr/>
          <p:nvPr/>
        </p:nvSpPr>
        <p:spPr>
          <a:xfrm>
            <a:off x="7400759" y="3183042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LAI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836FA74-0DA0-75B0-832E-56BAC45B1582}"/>
              </a:ext>
            </a:extLst>
          </p:cNvPr>
          <p:cNvCxnSpPr>
            <a:cxnSpLocks/>
          </p:cNvCxnSpPr>
          <p:nvPr/>
        </p:nvCxnSpPr>
        <p:spPr>
          <a:xfrm flipH="1">
            <a:off x="9061686" y="2535288"/>
            <a:ext cx="2033898" cy="1368577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olid"/>
            <a:tailEnd type="triangle" w="lg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E23F26-8CC4-5049-7BB5-A2F3FA9AA7BD}"/>
              </a:ext>
            </a:extLst>
          </p:cNvPr>
          <p:cNvCxnSpPr>
            <a:cxnSpLocks/>
          </p:cNvCxnSpPr>
          <p:nvPr/>
        </p:nvCxnSpPr>
        <p:spPr>
          <a:xfrm flipH="1">
            <a:off x="9039821" y="2536865"/>
            <a:ext cx="1593382" cy="1098783"/>
          </a:xfrm>
          <a:prstGeom prst="straightConnector1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tailEnd type="triangle" w="lg" len="med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950ECD6-3E10-BC0C-48B9-3CEFE92F4787}"/>
              </a:ext>
            </a:extLst>
          </p:cNvPr>
          <p:cNvSpPr txBox="1"/>
          <p:nvPr/>
        </p:nvSpPr>
        <p:spPr>
          <a:xfrm>
            <a:off x="905060" y="3160377"/>
            <a:ext cx="4819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2D72"/>
                </a:solidFill>
                <a:latin typeface="Helvetica" pitchFamily="2" charset="0"/>
              </a:rPr>
              <a:t>Transitions along the continuum of care: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HIV incidence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HIV diagnosis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Engagement in care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Disengagement from care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Gain of viral suppression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Loss of viral suppression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  <a:latin typeface="Helvetica" pitchFamily="2" charset="0"/>
              </a:rPr>
              <a:t>LAI from engaged/suppressed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/>
                </a:solidFill>
                <a:latin typeface="Helvetica" pitchFamily="2" charset="0"/>
              </a:rPr>
              <a:t>LAI from engaged/unsuppressed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B050"/>
                </a:solidFill>
                <a:latin typeface="Helvetica" pitchFamily="2" charset="0"/>
              </a:rPr>
              <a:t>LAI from ART naïve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B62F82-03B3-1E58-9FD5-676295BA3CA7}"/>
              </a:ext>
            </a:extLst>
          </p:cNvPr>
          <p:cNvSpPr txBox="1"/>
          <p:nvPr/>
        </p:nvSpPr>
        <p:spPr>
          <a:xfrm>
            <a:off x="9717738" y="3062579"/>
            <a:ext cx="44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itchFamily="2" charset="0"/>
              </a:rPr>
              <a:t>(9)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5F6668-6BFA-AD3E-2E89-A67527544AE5}"/>
              </a:ext>
            </a:extLst>
          </p:cNvPr>
          <p:cNvSpPr txBox="1"/>
          <p:nvPr/>
        </p:nvSpPr>
        <p:spPr>
          <a:xfrm>
            <a:off x="9248843" y="2738036"/>
            <a:ext cx="44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Helvetica" pitchFamily="2" charset="0"/>
              </a:rPr>
              <a:t>(7)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6BE592-7C5B-7C03-FAFA-8BA444EB9CC9}"/>
              </a:ext>
            </a:extLst>
          </p:cNvPr>
          <p:cNvSpPr txBox="1"/>
          <p:nvPr/>
        </p:nvSpPr>
        <p:spPr>
          <a:xfrm>
            <a:off x="9483290" y="2900308"/>
            <a:ext cx="44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Helvetica" pitchFamily="2" charset="0"/>
              </a:rPr>
              <a:t>(8)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862952-1BE2-8607-8290-1955B09ECF11}"/>
              </a:ext>
            </a:extLst>
          </p:cNvPr>
          <p:cNvSpPr/>
          <p:nvPr/>
        </p:nvSpPr>
        <p:spPr>
          <a:xfrm>
            <a:off x="393895" y="984738"/>
            <a:ext cx="11479237" cy="5345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D8084-775F-4A53-1E38-757821F5DCC5}"/>
              </a:ext>
            </a:extLst>
          </p:cNvPr>
          <p:cNvSpPr/>
          <p:nvPr/>
        </p:nvSpPr>
        <p:spPr>
          <a:xfrm>
            <a:off x="3011711" y="1773058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HIV-positive, Undiagnosed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ECBB83-290E-23D7-1C8B-3472F8399849}"/>
              </a:ext>
            </a:extLst>
          </p:cNvPr>
          <p:cNvSpPr/>
          <p:nvPr/>
        </p:nvSpPr>
        <p:spPr>
          <a:xfrm>
            <a:off x="905060" y="1773058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HIV-negative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A7FB8F-0A4B-5639-060A-83E520567137}"/>
              </a:ext>
            </a:extLst>
          </p:cNvPr>
          <p:cNvCxnSpPr>
            <a:cxnSpLocks/>
          </p:cNvCxnSpPr>
          <p:nvPr/>
        </p:nvCxnSpPr>
        <p:spPr>
          <a:xfrm flipH="1">
            <a:off x="9032430" y="2338401"/>
            <a:ext cx="615448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A7FE5B-7D0D-C49D-5748-70004CCE47E7}"/>
              </a:ext>
            </a:extLst>
          </p:cNvPr>
          <p:cNvCxnSpPr>
            <a:cxnSpLocks/>
          </p:cNvCxnSpPr>
          <p:nvPr/>
        </p:nvCxnSpPr>
        <p:spPr>
          <a:xfrm>
            <a:off x="6780000" y="1945350"/>
            <a:ext cx="614408" cy="1498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633F77-146A-6DAB-4797-8BE5432D0590}"/>
              </a:ext>
            </a:extLst>
          </p:cNvPr>
          <p:cNvCxnSpPr>
            <a:cxnSpLocks/>
          </p:cNvCxnSpPr>
          <p:nvPr/>
        </p:nvCxnSpPr>
        <p:spPr>
          <a:xfrm flipH="1">
            <a:off x="6780000" y="2272413"/>
            <a:ext cx="614408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757ABEF-6D12-C81F-E610-565DD5A68AC2}"/>
              </a:ext>
            </a:extLst>
          </p:cNvPr>
          <p:cNvCxnSpPr>
            <a:cxnSpLocks/>
            <a:stCxn id="16" idx="3"/>
            <a:endCxn id="25" idx="1"/>
          </p:cNvCxnSpPr>
          <p:nvPr/>
        </p:nvCxnSpPr>
        <p:spPr>
          <a:xfrm>
            <a:off x="4650773" y="2150248"/>
            <a:ext cx="490166" cy="1499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303532-8C47-51C7-33E8-672084B98DBA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>
          <a:xfrm>
            <a:off x="2544122" y="2150248"/>
            <a:ext cx="467589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4EE0A5A8-8655-926C-41A1-891E5721B0C2}"/>
              </a:ext>
            </a:extLst>
          </p:cNvPr>
          <p:cNvCxnSpPr/>
          <p:nvPr/>
        </p:nvCxnSpPr>
        <p:spPr>
          <a:xfrm rot="16200000" flipV="1">
            <a:off x="8213940" y="-478913"/>
            <a:ext cx="12700" cy="4506939"/>
          </a:xfrm>
          <a:prstGeom prst="bentConnector3">
            <a:avLst>
              <a:gd name="adj1" fmla="val 2369150"/>
            </a:avLst>
          </a:prstGeom>
          <a:noFill/>
          <a:ln w="38100" cap="flat" cmpd="sng" algn="ctr">
            <a:solidFill>
              <a:srgbClr val="002D72"/>
            </a:solidFill>
            <a:prstDash val="soli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F4C681A-0468-2905-B8B6-5E9F0CBC513C}"/>
              </a:ext>
            </a:extLst>
          </p:cNvPr>
          <p:cNvCxnSpPr>
            <a:cxnSpLocks/>
          </p:cNvCxnSpPr>
          <p:nvPr/>
        </p:nvCxnSpPr>
        <p:spPr>
          <a:xfrm>
            <a:off x="9032430" y="2091955"/>
            <a:ext cx="608057" cy="1833"/>
          </a:xfrm>
          <a:prstGeom prst="straightConnector1">
            <a:avLst/>
          </a:prstGeom>
          <a:noFill/>
          <a:ln w="38100" cap="flat" cmpd="sng" algn="ctr">
            <a:solidFill>
              <a:schemeClr val="accent2"/>
            </a:solidFill>
            <a:prstDash val="sysDot"/>
            <a:tailEnd type="triangle" w="lg" len="med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6D89292-984C-251F-6A5A-481E3718CA38}"/>
              </a:ext>
            </a:extLst>
          </p:cNvPr>
          <p:cNvCxnSpPr>
            <a:cxnSpLocks/>
          </p:cNvCxnSpPr>
          <p:nvPr/>
        </p:nvCxnSpPr>
        <p:spPr>
          <a:xfrm flipH="1">
            <a:off x="9039821" y="2527438"/>
            <a:ext cx="1199445" cy="786356"/>
          </a:xfrm>
          <a:prstGeom prst="straightConnector1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tailEnd type="triangle" w="lg" len="med"/>
          </a:ln>
          <a:effectLst/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919CE11-5074-9E65-F555-E157886C0B99}"/>
              </a:ext>
            </a:extLst>
          </p:cNvPr>
          <p:cNvSpPr/>
          <p:nvPr/>
        </p:nvSpPr>
        <p:spPr>
          <a:xfrm>
            <a:off x="9647878" y="1774557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Engaged,</a:t>
            </a:r>
          </a:p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Suppressed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A1CBEF-F059-FE3B-CFCE-3721C54561F8}"/>
              </a:ext>
            </a:extLst>
          </p:cNvPr>
          <p:cNvCxnSpPr>
            <a:cxnSpLocks/>
          </p:cNvCxnSpPr>
          <p:nvPr/>
        </p:nvCxnSpPr>
        <p:spPr>
          <a:xfrm>
            <a:off x="9032430" y="1954360"/>
            <a:ext cx="615448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4932E75-F4DE-55C9-CD47-793137F7218B}"/>
              </a:ext>
            </a:extLst>
          </p:cNvPr>
          <p:cNvCxnSpPr>
            <a:cxnSpLocks/>
          </p:cNvCxnSpPr>
          <p:nvPr/>
        </p:nvCxnSpPr>
        <p:spPr>
          <a:xfrm>
            <a:off x="9032430" y="2225065"/>
            <a:ext cx="608057" cy="1833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ysDot"/>
            <a:tailEnd type="triangle" w="lg" len="med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B0F3507-4DE8-9836-7A86-7B525C1E2682}"/>
              </a:ext>
            </a:extLst>
          </p:cNvPr>
          <p:cNvCxnSpPr>
            <a:cxnSpLocks/>
          </p:cNvCxnSpPr>
          <p:nvPr/>
        </p:nvCxnSpPr>
        <p:spPr>
          <a:xfrm>
            <a:off x="6780000" y="2113447"/>
            <a:ext cx="608057" cy="1833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ysDot"/>
            <a:tailEnd type="triangle" w="lg" len="med"/>
          </a:ln>
          <a:effectLst/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3EA0135-0CC8-09D7-1C0C-22800D79B210}"/>
              </a:ext>
            </a:extLst>
          </p:cNvPr>
          <p:cNvSpPr/>
          <p:nvPr/>
        </p:nvSpPr>
        <p:spPr>
          <a:xfrm>
            <a:off x="7394409" y="1776055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Engaged,</a:t>
            </a:r>
          </a:p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Unsuppressed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D1DF68-89E1-FA06-43CA-5FD7DA77D58F}"/>
              </a:ext>
            </a:extLst>
          </p:cNvPr>
          <p:cNvSpPr/>
          <p:nvPr/>
        </p:nvSpPr>
        <p:spPr>
          <a:xfrm>
            <a:off x="5140939" y="1774557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Diagnosed,</a:t>
            </a:r>
          </a:p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Unengaged</a:t>
            </a:r>
          </a:p>
        </p:txBody>
      </p:sp>
    </p:spTree>
    <p:extLst>
      <p:ext uri="{BB962C8B-B14F-4D97-AF65-F5344CB8AC3E}">
        <p14:creationId xmlns:p14="http://schemas.microsoft.com/office/powerpoint/2010/main" val="257843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FAE39-F79C-EF6A-6030-81E02F950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78DB08A-25BA-6DD1-98D9-FF774199FB27}"/>
              </a:ext>
            </a:extLst>
          </p:cNvPr>
          <p:cNvSpPr txBox="1">
            <a:spLocks/>
          </p:cNvSpPr>
          <p:nvPr/>
        </p:nvSpPr>
        <p:spPr>
          <a:xfrm>
            <a:off x="768096" y="365769"/>
            <a:ext cx="10668000" cy="832559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4100" kern="1200">
                <a:solidFill>
                  <a:schemeClr val="tx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100" b="0" i="0" u="none" strike="noStrike" kern="1200" cap="none" spc="0" normalizeH="0" baseline="0" noProof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  <a:ea typeface="+mn-ea"/>
              </a:rPr>
              <a:t>Model structure</a:t>
            </a:r>
            <a:endParaRPr kumimoji="0" lang="en-US" sz="4100" b="0" i="0" u="none" strike="noStrike" kern="1200" cap="none" spc="0" normalizeH="0" baseline="0" noProof="0" dirty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Helvetica" pitchFamily="2" charset="0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163D70-5CA1-3E1B-9685-6FC8F3AD74BA}"/>
              </a:ext>
            </a:extLst>
          </p:cNvPr>
          <p:cNvSpPr txBox="1"/>
          <p:nvPr/>
        </p:nvSpPr>
        <p:spPr>
          <a:xfrm>
            <a:off x="2571020" y="1842035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2B0994-1A90-CFF4-ACCE-9A1AF7D2DD9C}"/>
              </a:ext>
            </a:extLst>
          </p:cNvPr>
          <p:cNvSpPr txBox="1"/>
          <p:nvPr/>
        </p:nvSpPr>
        <p:spPr>
          <a:xfrm>
            <a:off x="4675510" y="1842035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2286F-5E85-626B-F2AE-954323DC8240}"/>
              </a:ext>
            </a:extLst>
          </p:cNvPr>
          <p:cNvSpPr txBox="1"/>
          <p:nvPr/>
        </p:nvSpPr>
        <p:spPr>
          <a:xfrm>
            <a:off x="6880390" y="1651980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DB8285-472B-4616-7059-3A38742CBE0B}"/>
              </a:ext>
            </a:extLst>
          </p:cNvPr>
          <p:cNvSpPr txBox="1"/>
          <p:nvPr/>
        </p:nvSpPr>
        <p:spPr>
          <a:xfrm>
            <a:off x="6880390" y="2263248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3BB0B5-EE7C-B537-4EF6-0B27F5BA8029}"/>
              </a:ext>
            </a:extLst>
          </p:cNvPr>
          <p:cNvSpPr txBox="1"/>
          <p:nvPr/>
        </p:nvSpPr>
        <p:spPr>
          <a:xfrm>
            <a:off x="7999944" y="1118521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(4)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D69702-C2E4-B065-9F56-65F08911534C}"/>
              </a:ext>
            </a:extLst>
          </p:cNvPr>
          <p:cNvSpPr txBox="1"/>
          <p:nvPr/>
        </p:nvSpPr>
        <p:spPr>
          <a:xfrm>
            <a:off x="9137977" y="1651980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3209BF-DF74-1CDB-4DB9-C8392ECB4E8A}"/>
              </a:ext>
            </a:extLst>
          </p:cNvPr>
          <p:cNvSpPr txBox="1"/>
          <p:nvPr/>
        </p:nvSpPr>
        <p:spPr>
          <a:xfrm>
            <a:off x="9141986" y="2329236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</a:rPr>
              <a:t>(6)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C7D5CBB-93BD-5CEB-ABCC-470858E3EC29}"/>
              </a:ext>
            </a:extLst>
          </p:cNvPr>
          <p:cNvCxnSpPr>
            <a:cxnSpLocks/>
          </p:cNvCxnSpPr>
          <p:nvPr/>
        </p:nvCxnSpPr>
        <p:spPr>
          <a:xfrm>
            <a:off x="10916476" y="2535288"/>
            <a:ext cx="0" cy="948515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olid"/>
            <a:tailEnd type="triangle" w="lg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3F32E0-07B8-243F-637D-1CA3F3495805}"/>
              </a:ext>
            </a:extLst>
          </p:cNvPr>
          <p:cNvCxnSpPr>
            <a:cxnSpLocks/>
          </p:cNvCxnSpPr>
          <p:nvPr/>
        </p:nvCxnSpPr>
        <p:spPr>
          <a:xfrm>
            <a:off x="10496270" y="2539724"/>
            <a:ext cx="0" cy="954866"/>
          </a:xfrm>
          <a:prstGeom prst="straightConnector1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tailEnd type="triangle" w="lg" len="med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1388454-C5B1-4D9B-6898-EE2E4959F047}"/>
              </a:ext>
            </a:extLst>
          </p:cNvPr>
          <p:cNvSpPr txBox="1"/>
          <p:nvPr/>
        </p:nvSpPr>
        <p:spPr>
          <a:xfrm>
            <a:off x="905060" y="3160377"/>
            <a:ext cx="4819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2D72"/>
                </a:solidFill>
                <a:latin typeface="Helvetica" pitchFamily="2" charset="0"/>
              </a:rPr>
              <a:t>Transitions along the continuum of care: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HIV incidence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HIV diagnosis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Engagement in care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Disengagement from care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Gain of viral suppression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Loss of viral suppression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5"/>
                </a:solidFill>
                <a:latin typeface="Helvetica" pitchFamily="2" charset="0"/>
              </a:rPr>
              <a:t>LAI from engaged/suppressed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/>
                </a:solidFill>
                <a:latin typeface="Helvetica" pitchFamily="2" charset="0"/>
              </a:rPr>
              <a:t>LAI from engaged/unsuppressed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B050"/>
                </a:solidFill>
                <a:latin typeface="Helvetica" pitchFamily="2" charset="0"/>
              </a:rPr>
              <a:t>LAI from ART naïve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1E3796-B4E1-7EEA-6A50-EA1C74FF3D15}"/>
              </a:ext>
            </a:extLst>
          </p:cNvPr>
          <p:cNvSpPr txBox="1"/>
          <p:nvPr/>
        </p:nvSpPr>
        <p:spPr>
          <a:xfrm>
            <a:off x="10595737" y="2806874"/>
            <a:ext cx="44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itchFamily="2" charset="0"/>
              </a:rPr>
              <a:t>(9)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B60F21-AF34-1D1E-989F-05ABE8F9E5CE}"/>
              </a:ext>
            </a:extLst>
          </p:cNvPr>
          <p:cNvSpPr txBox="1"/>
          <p:nvPr/>
        </p:nvSpPr>
        <p:spPr>
          <a:xfrm>
            <a:off x="9764048" y="2806874"/>
            <a:ext cx="44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Helvetica" pitchFamily="2" charset="0"/>
              </a:rPr>
              <a:t>(7)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156C38-57CB-9442-E7F7-B8C703812CA7}"/>
              </a:ext>
            </a:extLst>
          </p:cNvPr>
          <p:cNvSpPr txBox="1"/>
          <p:nvPr/>
        </p:nvSpPr>
        <p:spPr>
          <a:xfrm>
            <a:off x="10184606" y="2806874"/>
            <a:ext cx="44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Helvetica" pitchFamily="2" charset="0"/>
              </a:rPr>
              <a:t>(8)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FD504-B45C-244E-7AF6-761FA5BD219D}"/>
              </a:ext>
            </a:extLst>
          </p:cNvPr>
          <p:cNvSpPr/>
          <p:nvPr/>
        </p:nvSpPr>
        <p:spPr>
          <a:xfrm>
            <a:off x="393895" y="984738"/>
            <a:ext cx="11479237" cy="5345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3738F-6326-29B4-F5E8-1142A7A88FF7}"/>
              </a:ext>
            </a:extLst>
          </p:cNvPr>
          <p:cNvSpPr/>
          <p:nvPr/>
        </p:nvSpPr>
        <p:spPr>
          <a:xfrm>
            <a:off x="3011711" y="1773058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HIV-positive, Undiagnosed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8AF837-020B-3679-560A-3DAD29B5D236}"/>
              </a:ext>
            </a:extLst>
          </p:cNvPr>
          <p:cNvSpPr/>
          <p:nvPr/>
        </p:nvSpPr>
        <p:spPr>
          <a:xfrm>
            <a:off x="905060" y="1773058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HIV-negative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2467993-4825-57CC-84F7-36C553234EB1}"/>
              </a:ext>
            </a:extLst>
          </p:cNvPr>
          <p:cNvCxnSpPr>
            <a:cxnSpLocks/>
          </p:cNvCxnSpPr>
          <p:nvPr/>
        </p:nvCxnSpPr>
        <p:spPr>
          <a:xfrm flipH="1">
            <a:off x="9032430" y="2338401"/>
            <a:ext cx="615448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39035F-007B-0EC2-2550-2A69EEA7EEE7}"/>
              </a:ext>
            </a:extLst>
          </p:cNvPr>
          <p:cNvCxnSpPr>
            <a:cxnSpLocks/>
          </p:cNvCxnSpPr>
          <p:nvPr/>
        </p:nvCxnSpPr>
        <p:spPr>
          <a:xfrm>
            <a:off x="6780000" y="1945350"/>
            <a:ext cx="614408" cy="1498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954F99-9714-44DF-4841-D2FD2E4855E8}"/>
              </a:ext>
            </a:extLst>
          </p:cNvPr>
          <p:cNvCxnSpPr>
            <a:cxnSpLocks/>
          </p:cNvCxnSpPr>
          <p:nvPr/>
        </p:nvCxnSpPr>
        <p:spPr>
          <a:xfrm flipH="1">
            <a:off x="6780000" y="2272413"/>
            <a:ext cx="614408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F72E8B1-D99A-6F47-83F7-34C61C45DFAD}"/>
              </a:ext>
            </a:extLst>
          </p:cNvPr>
          <p:cNvCxnSpPr>
            <a:cxnSpLocks/>
            <a:stCxn id="16" idx="3"/>
            <a:endCxn id="25" idx="1"/>
          </p:cNvCxnSpPr>
          <p:nvPr/>
        </p:nvCxnSpPr>
        <p:spPr>
          <a:xfrm>
            <a:off x="4650773" y="2150248"/>
            <a:ext cx="490166" cy="1499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3A47C2-2431-D4D0-4F89-B1FC65DA56AE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>
          <a:xfrm>
            <a:off x="2544122" y="2150248"/>
            <a:ext cx="467589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12BF991-9AAF-0D60-127A-B13835CE7C7C}"/>
              </a:ext>
            </a:extLst>
          </p:cNvPr>
          <p:cNvCxnSpPr/>
          <p:nvPr/>
        </p:nvCxnSpPr>
        <p:spPr>
          <a:xfrm rot="16200000" flipV="1">
            <a:off x="8213940" y="-478913"/>
            <a:ext cx="12700" cy="4506939"/>
          </a:xfrm>
          <a:prstGeom prst="bentConnector3">
            <a:avLst>
              <a:gd name="adj1" fmla="val 2369150"/>
            </a:avLst>
          </a:prstGeom>
          <a:noFill/>
          <a:ln w="38100" cap="flat" cmpd="sng" algn="ctr">
            <a:solidFill>
              <a:srgbClr val="002D72"/>
            </a:solidFill>
            <a:prstDash val="soli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E726BF0-4657-D954-6C13-2ADC03239A68}"/>
              </a:ext>
            </a:extLst>
          </p:cNvPr>
          <p:cNvCxnSpPr>
            <a:cxnSpLocks/>
          </p:cNvCxnSpPr>
          <p:nvPr/>
        </p:nvCxnSpPr>
        <p:spPr>
          <a:xfrm>
            <a:off x="9032430" y="2091955"/>
            <a:ext cx="608057" cy="1833"/>
          </a:xfrm>
          <a:prstGeom prst="straightConnector1">
            <a:avLst/>
          </a:prstGeom>
          <a:noFill/>
          <a:ln w="38100" cap="flat" cmpd="sng" algn="ctr">
            <a:solidFill>
              <a:schemeClr val="accent2"/>
            </a:solidFill>
            <a:prstDash val="sysDot"/>
            <a:tailEnd type="triangle" w="lg" len="med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D36CF22-89F5-36BC-4A29-76CDB9B2F9EA}"/>
              </a:ext>
            </a:extLst>
          </p:cNvPr>
          <p:cNvCxnSpPr>
            <a:cxnSpLocks/>
          </p:cNvCxnSpPr>
          <p:nvPr/>
        </p:nvCxnSpPr>
        <p:spPr>
          <a:xfrm>
            <a:off x="10084236" y="2546075"/>
            <a:ext cx="0" cy="948515"/>
          </a:xfrm>
          <a:prstGeom prst="straightConnector1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tailEnd type="triangle" w="lg" len="med"/>
          </a:ln>
          <a:effectLst/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64D7AC6-EA0B-3FF6-F784-D8FBFDD05186}"/>
              </a:ext>
            </a:extLst>
          </p:cNvPr>
          <p:cNvSpPr/>
          <p:nvPr/>
        </p:nvSpPr>
        <p:spPr>
          <a:xfrm>
            <a:off x="9647878" y="1774557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Engaged,</a:t>
            </a:r>
          </a:p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Suppressed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8FD9E8-E46E-6A18-3C94-E5002E260DE3}"/>
              </a:ext>
            </a:extLst>
          </p:cNvPr>
          <p:cNvCxnSpPr>
            <a:cxnSpLocks/>
          </p:cNvCxnSpPr>
          <p:nvPr/>
        </p:nvCxnSpPr>
        <p:spPr>
          <a:xfrm>
            <a:off x="9032430" y="1954360"/>
            <a:ext cx="615448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70A0AA5-7BB6-DADD-9DC1-4352E81F5020}"/>
              </a:ext>
            </a:extLst>
          </p:cNvPr>
          <p:cNvCxnSpPr>
            <a:cxnSpLocks/>
          </p:cNvCxnSpPr>
          <p:nvPr/>
        </p:nvCxnSpPr>
        <p:spPr>
          <a:xfrm>
            <a:off x="9032430" y="2225065"/>
            <a:ext cx="608057" cy="1833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ysDot"/>
            <a:tailEnd type="triangle" w="lg" len="med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55694E5-E9D0-1F10-C911-0C05B466EC91}"/>
              </a:ext>
            </a:extLst>
          </p:cNvPr>
          <p:cNvCxnSpPr>
            <a:cxnSpLocks/>
          </p:cNvCxnSpPr>
          <p:nvPr/>
        </p:nvCxnSpPr>
        <p:spPr>
          <a:xfrm>
            <a:off x="6780000" y="2113447"/>
            <a:ext cx="608057" cy="1833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ysDot"/>
            <a:tailEnd type="triangle" w="lg" len="med"/>
          </a:ln>
          <a:effectLst/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5BF6464-00BC-E15E-6E82-3301D69173F5}"/>
              </a:ext>
            </a:extLst>
          </p:cNvPr>
          <p:cNvSpPr/>
          <p:nvPr/>
        </p:nvSpPr>
        <p:spPr>
          <a:xfrm>
            <a:off x="7394409" y="1776055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Engaged,</a:t>
            </a:r>
          </a:p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Unsuppressed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61AC5C-2E87-9F14-0D5C-78C90394159B}"/>
              </a:ext>
            </a:extLst>
          </p:cNvPr>
          <p:cNvSpPr/>
          <p:nvPr/>
        </p:nvSpPr>
        <p:spPr>
          <a:xfrm>
            <a:off x="5140939" y="1774557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Diagnosed,</a:t>
            </a:r>
          </a:p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Unengaged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F58D8A-2DA0-8874-4B7D-3F019EA173CB}"/>
              </a:ext>
            </a:extLst>
          </p:cNvPr>
          <p:cNvSpPr/>
          <p:nvPr/>
        </p:nvSpPr>
        <p:spPr>
          <a:xfrm>
            <a:off x="9647878" y="3483803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cs typeface="Arial" panose="020B0604020202020204" pitchFamily="34" charset="0"/>
              </a:rPr>
              <a:t>LAI ART</a:t>
            </a:r>
          </a:p>
        </p:txBody>
      </p:sp>
    </p:spTree>
    <p:extLst>
      <p:ext uri="{BB962C8B-B14F-4D97-AF65-F5344CB8AC3E}">
        <p14:creationId xmlns:p14="http://schemas.microsoft.com/office/powerpoint/2010/main" val="1902225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1F6B4-B310-607F-9CD6-B39F817F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3CE0FE-B050-C7D6-270A-CEB49BBA4048}"/>
              </a:ext>
            </a:extLst>
          </p:cNvPr>
          <p:cNvCxnSpPr>
            <a:cxnSpLocks/>
          </p:cNvCxnSpPr>
          <p:nvPr/>
        </p:nvCxnSpPr>
        <p:spPr>
          <a:xfrm>
            <a:off x="5960470" y="2528937"/>
            <a:ext cx="3687408" cy="1332056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olid"/>
            <a:tailEnd type="triangle" w="lg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0C9516-2592-492D-6D25-88FA935E95EC}"/>
              </a:ext>
            </a:extLst>
          </p:cNvPr>
          <p:cNvCxnSpPr>
            <a:cxnSpLocks/>
          </p:cNvCxnSpPr>
          <p:nvPr/>
        </p:nvCxnSpPr>
        <p:spPr>
          <a:xfrm>
            <a:off x="8213940" y="2530435"/>
            <a:ext cx="1433938" cy="964155"/>
          </a:xfrm>
          <a:prstGeom prst="straightConnector1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tailEnd type="triangle" w="lg" len="med"/>
          </a:ln>
          <a:effectLst/>
        </p:spPr>
      </p:cxn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61043DE-FCD9-407E-656B-11C189554B52}"/>
              </a:ext>
            </a:extLst>
          </p:cNvPr>
          <p:cNvSpPr txBox="1">
            <a:spLocks/>
          </p:cNvSpPr>
          <p:nvPr/>
        </p:nvSpPr>
        <p:spPr>
          <a:xfrm>
            <a:off x="768096" y="365769"/>
            <a:ext cx="10668000" cy="832559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4100" kern="1200">
                <a:solidFill>
                  <a:schemeClr val="tx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dirty="0">
                <a:solidFill>
                  <a:srgbClr val="002D72"/>
                </a:solidFill>
              </a:rPr>
              <a:t>Model structure</a:t>
            </a:r>
            <a:endParaRPr kumimoji="0" lang="en-US" sz="4100" b="0" i="0" u="none" strike="noStrike" kern="1200" cap="none" spc="0" normalizeH="0" baseline="0" noProof="0" dirty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Helvetica" pitchFamily="2" charset="0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92014-E90B-D5A7-1DD2-CA1A5158AFB0}"/>
              </a:ext>
            </a:extLst>
          </p:cNvPr>
          <p:cNvSpPr txBox="1"/>
          <p:nvPr/>
        </p:nvSpPr>
        <p:spPr>
          <a:xfrm>
            <a:off x="2571020" y="1842035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(1)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34D16-93CC-7217-CD7E-2C4108E1C0AC}"/>
              </a:ext>
            </a:extLst>
          </p:cNvPr>
          <p:cNvSpPr txBox="1"/>
          <p:nvPr/>
        </p:nvSpPr>
        <p:spPr>
          <a:xfrm>
            <a:off x="4675510" y="1842035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(2)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F2DAA9-40DF-A211-0EA6-93039C50F4FE}"/>
              </a:ext>
            </a:extLst>
          </p:cNvPr>
          <p:cNvSpPr txBox="1"/>
          <p:nvPr/>
        </p:nvSpPr>
        <p:spPr>
          <a:xfrm>
            <a:off x="6880390" y="1651980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(3)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CFE61-9153-BA3A-59D9-45DD1955E589}"/>
              </a:ext>
            </a:extLst>
          </p:cNvPr>
          <p:cNvSpPr txBox="1"/>
          <p:nvPr/>
        </p:nvSpPr>
        <p:spPr>
          <a:xfrm>
            <a:off x="6880390" y="2263248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(4)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587737-46EA-315E-FAA1-7AF47956262C}"/>
              </a:ext>
            </a:extLst>
          </p:cNvPr>
          <p:cNvSpPr txBox="1"/>
          <p:nvPr/>
        </p:nvSpPr>
        <p:spPr>
          <a:xfrm>
            <a:off x="7999944" y="1118521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(4)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D39F7F-ECF8-4455-EBB7-4D18D84AABD4}"/>
              </a:ext>
            </a:extLst>
          </p:cNvPr>
          <p:cNvSpPr txBox="1"/>
          <p:nvPr/>
        </p:nvSpPr>
        <p:spPr>
          <a:xfrm>
            <a:off x="9137977" y="1651980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(5)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F3D1C-DB58-D4FA-132D-73CC3E5B7188}"/>
              </a:ext>
            </a:extLst>
          </p:cNvPr>
          <p:cNvSpPr txBox="1"/>
          <p:nvPr/>
        </p:nvSpPr>
        <p:spPr>
          <a:xfrm>
            <a:off x="9141986" y="2329236"/>
            <a:ext cx="44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D72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(6)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F901AE-1A73-F9FE-0792-E1E25F20D536}"/>
              </a:ext>
            </a:extLst>
          </p:cNvPr>
          <p:cNvSpPr txBox="1"/>
          <p:nvPr/>
        </p:nvSpPr>
        <p:spPr>
          <a:xfrm>
            <a:off x="9764048" y="2806874"/>
            <a:ext cx="44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(7)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22CA65-43FD-738E-3DB6-8890FF986E7D}"/>
              </a:ext>
            </a:extLst>
          </p:cNvPr>
          <p:cNvSpPr/>
          <p:nvPr/>
        </p:nvSpPr>
        <p:spPr>
          <a:xfrm>
            <a:off x="393895" y="984738"/>
            <a:ext cx="11479237" cy="5345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7CA382-6E45-EBCA-775A-DC670C0889FA}"/>
              </a:ext>
            </a:extLst>
          </p:cNvPr>
          <p:cNvSpPr/>
          <p:nvPr/>
        </p:nvSpPr>
        <p:spPr>
          <a:xfrm>
            <a:off x="3011711" y="1773058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Arial" panose="020B0604020202020204" pitchFamily="34" charset="0"/>
              </a:rPr>
              <a:t>HIV-positive, Undiagnosed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E57E8F-4A7C-FCD2-6722-CEC79B23D091}"/>
              </a:ext>
            </a:extLst>
          </p:cNvPr>
          <p:cNvSpPr/>
          <p:nvPr/>
        </p:nvSpPr>
        <p:spPr>
          <a:xfrm>
            <a:off x="905060" y="1773058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2" charset="0"/>
                <a:ea typeface="+mn-ea"/>
                <a:cs typeface="Arial" panose="020B0604020202020204" pitchFamily="34" charset="0"/>
              </a:rPr>
              <a:t>HIV-negative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F4A4A54-2589-1F69-3AE8-59E31FD9E563}"/>
              </a:ext>
            </a:extLst>
          </p:cNvPr>
          <p:cNvCxnSpPr>
            <a:cxnSpLocks/>
          </p:cNvCxnSpPr>
          <p:nvPr/>
        </p:nvCxnSpPr>
        <p:spPr>
          <a:xfrm flipH="1">
            <a:off x="9032430" y="2338401"/>
            <a:ext cx="615448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562AD3-244A-A918-4B87-9EAB3C012E23}"/>
              </a:ext>
            </a:extLst>
          </p:cNvPr>
          <p:cNvCxnSpPr>
            <a:cxnSpLocks/>
          </p:cNvCxnSpPr>
          <p:nvPr/>
        </p:nvCxnSpPr>
        <p:spPr>
          <a:xfrm>
            <a:off x="6780000" y="1945350"/>
            <a:ext cx="614408" cy="1498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6572D2-C724-08AB-C598-10F65E1F1E8B}"/>
              </a:ext>
            </a:extLst>
          </p:cNvPr>
          <p:cNvCxnSpPr>
            <a:cxnSpLocks/>
          </p:cNvCxnSpPr>
          <p:nvPr/>
        </p:nvCxnSpPr>
        <p:spPr>
          <a:xfrm flipH="1">
            <a:off x="6780000" y="2272413"/>
            <a:ext cx="614408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7CB400-2D6A-88DD-4C05-F0EA5141FBD5}"/>
              </a:ext>
            </a:extLst>
          </p:cNvPr>
          <p:cNvCxnSpPr>
            <a:cxnSpLocks/>
            <a:stCxn id="16" idx="3"/>
            <a:endCxn id="25" idx="1"/>
          </p:cNvCxnSpPr>
          <p:nvPr/>
        </p:nvCxnSpPr>
        <p:spPr>
          <a:xfrm>
            <a:off x="4650773" y="2150248"/>
            <a:ext cx="490166" cy="1499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931ADE-F2E8-7941-FA6C-E7D217DBA4B8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>
          <a:xfrm>
            <a:off x="2544122" y="2150248"/>
            <a:ext cx="467589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AA502B9D-13B3-FB40-1AB6-10169C40E108}"/>
              </a:ext>
            </a:extLst>
          </p:cNvPr>
          <p:cNvCxnSpPr/>
          <p:nvPr/>
        </p:nvCxnSpPr>
        <p:spPr>
          <a:xfrm rot="16200000" flipV="1">
            <a:off x="8213940" y="-478913"/>
            <a:ext cx="12700" cy="4506939"/>
          </a:xfrm>
          <a:prstGeom prst="bentConnector3">
            <a:avLst>
              <a:gd name="adj1" fmla="val 2369150"/>
            </a:avLst>
          </a:prstGeom>
          <a:noFill/>
          <a:ln w="38100" cap="flat" cmpd="sng" algn="ctr">
            <a:solidFill>
              <a:srgbClr val="002D72"/>
            </a:solidFill>
            <a:prstDash val="solid"/>
            <a:tailEnd type="triangle"/>
          </a:ln>
          <a:effectLst/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83F6BA5-6C71-F2F6-63AD-F8948EA59846}"/>
              </a:ext>
            </a:extLst>
          </p:cNvPr>
          <p:cNvSpPr/>
          <p:nvPr/>
        </p:nvSpPr>
        <p:spPr>
          <a:xfrm>
            <a:off x="9647878" y="1774557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Arial" panose="020B0604020202020204" pitchFamily="34" charset="0"/>
              </a:rPr>
              <a:t>Engaged,</a:t>
            </a: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Arial" panose="020B0604020202020204" pitchFamily="34" charset="0"/>
              </a:rPr>
              <a:t>Suppressed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2205FE-050E-7295-AD19-D454207D4B40}"/>
              </a:ext>
            </a:extLst>
          </p:cNvPr>
          <p:cNvCxnSpPr>
            <a:cxnSpLocks/>
          </p:cNvCxnSpPr>
          <p:nvPr/>
        </p:nvCxnSpPr>
        <p:spPr>
          <a:xfrm>
            <a:off x="9032430" y="1954360"/>
            <a:ext cx="615448" cy="0"/>
          </a:xfrm>
          <a:prstGeom prst="straightConnector1">
            <a:avLst/>
          </a:prstGeom>
          <a:noFill/>
          <a:ln w="38100" cap="flat" cmpd="sng" algn="ctr">
            <a:solidFill>
              <a:srgbClr val="002D72"/>
            </a:solidFill>
            <a:prstDash val="solid"/>
            <a:tailEnd type="triangle" w="lg" len="med"/>
          </a:ln>
          <a:effectLst/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2021A01-CE5F-1EB7-9044-3EA896E43ED3}"/>
              </a:ext>
            </a:extLst>
          </p:cNvPr>
          <p:cNvSpPr/>
          <p:nvPr/>
        </p:nvSpPr>
        <p:spPr>
          <a:xfrm>
            <a:off x="7394409" y="1776055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Arial" panose="020B0604020202020204" pitchFamily="34" charset="0"/>
              </a:rPr>
              <a:t>Engaged,</a:t>
            </a: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Arial" panose="020B0604020202020204" pitchFamily="34" charset="0"/>
              </a:rPr>
              <a:t>Unsuppressed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DD0393-FA3A-7695-4D50-EFC7B0D24ADC}"/>
              </a:ext>
            </a:extLst>
          </p:cNvPr>
          <p:cNvSpPr/>
          <p:nvPr/>
        </p:nvSpPr>
        <p:spPr>
          <a:xfrm>
            <a:off x="5140939" y="1774557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Arial" panose="020B0604020202020204" pitchFamily="34" charset="0"/>
              </a:rPr>
              <a:t>Diagnosed,</a:t>
            </a:r>
          </a:p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Arial" panose="020B0604020202020204" pitchFamily="34" charset="0"/>
              </a:rPr>
              <a:t>Unengaged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ED65C3-0EF5-D8E4-BE13-E46C60377C16}"/>
              </a:ext>
            </a:extLst>
          </p:cNvPr>
          <p:cNvSpPr/>
          <p:nvPr/>
        </p:nvSpPr>
        <p:spPr>
          <a:xfrm>
            <a:off x="9647878" y="3483803"/>
            <a:ext cx="1639062" cy="754380"/>
          </a:xfrm>
          <a:prstGeom prst="rect">
            <a:avLst/>
          </a:prstGeom>
          <a:solidFill>
            <a:srgbClr val="418EDF">
              <a:lumMod val="20000"/>
              <a:lumOff val="80000"/>
            </a:srgbClr>
          </a:solidFill>
          <a:ln w="28575" cap="flat" cmpd="sng" algn="ctr">
            <a:solidFill>
              <a:srgbClr val="002D7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Arial" panose="020B0604020202020204" pitchFamily="34" charset="0"/>
              </a:rPr>
              <a:t>LAI 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BC3E5-ECAC-7D30-ADDA-432B269B7B2E}"/>
              </a:ext>
            </a:extLst>
          </p:cNvPr>
          <p:cNvSpPr txBox="1"/>
          <p:nvPr/>
        </p:nvSpPr>
        <p:spPr>
          <a:xfrm>
            <a:off x="905059" y="3160377"/>
            <a:ext cx="51909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2D72"/>
                </a:solidFill>
                <a:latin typeface="Helvetica" pitchFamily="2" charset="0"/>
              </a:rPr>
              <a:t>Transitions along the continuum of care: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HIV incidence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HIV diagnosis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Engagement in care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Disengagement from care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Gain of viral suppression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2D72"/>
                </a:solidFill>
                <a:latin typeface="Helvetica" pitchFamily="2" charset="0"/>
              </a:rPr>
              <a:t>Loss of viral suppression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7030A0"/>
                </a:solidFill>
                <a:latin typeface="Helvetica" pitchFamily="2" charset="0"/>
              </a:rPr>
              <a:t>LAI from engaged/suppressed (Cohort 1) 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chemeClr val="accent2"/>
                </a:solidFill>
                <a:latin typeface="Helvetica" pitchFamily="2" charset="0"/>
              </a:rPr>
              <a:t>LAI from engaged/unsuppressed (Cohort 2)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B050"/>
                </a:solidFill>
                <a:latin typeface="Helvetica" pitchFamily="2" charset="0"/>
              </a:rPr>
              <a:t>LAI from ART naïve (Cohort 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9FA2AB-6952-F8C9-3D2A-444E0280C8F8}"/>
              </a:ext>
            </a:extLst>
          </p:cNvPr>
          <p:cNvSpPr txBox="1"/>
          <p:nvPr/>
        </p:nvSpPr>
        <p:spPr>
          <a:xfrm>
            <a:off x="8917631" y="2806874"/>
            <a:ext cx="44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b="1" kern="0" dirty="0">
                <a:solidFill>
                  <a:srgbClr val="E97132"/>
                </a:solidFill>
                <a:latin typeface="Helvetica" pitchFamily="2" charset="0"/>
              </a:rPr>
              <a:t>(8)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D7DE3D-A20C-F43F-E587-2CE3D56128FF}"/>
              </a:ext>
            </a:extLst>
          </p:cNvPr>
          <p:cNvSpPr txBox="1"/>
          <p:nvPr/>
        </p:nvSpPr>
        <p:spPr>
          <a:xfrm>
            <a:off x="7833501" y="3012512"/>
            <a:ext cx="44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(9)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35168E-5364-8EA1-C56E-5226C9997FDC}"/>
              </a:ext>
            </a:extLst>
          </p:cNvPr>
          <p:cNvCxnSpPr>
            <a:cxnSpLocks/>
          </p:cNvCxnSpPr>
          <p:nvPr/>
        </p:nvCxnSpPr>
        <p:spPr>
          <a:xfrm>
            <a:off x="10084236" y="2546075"/>
            <a:ext cx="0" cy="948515"/>
          </a:xfrm>
          <a:prstGeom prst="straightConnector1">
            <a:avLst/>
          </a:prstGeom>
          <a:noFill/>
          <a:ln w="38100" cap="flat" cmpd="sng" algn="ctr">
            <a:solidFill>
              <a:srgbClr val="A02B93"/>
            </a:solidFill>
            <a:prstDash val="solid"/>
            <a:tailEnd type="triangle" w="lg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31841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504</Words>
  <Application>Microsoft Macintosh PowerPoint</Application>
  <PresentationFormat>Widescreen</PresentationFormat>
  <Paragraphs>122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Helvetica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Melissa Schnure</dc:creator>
  <cp:lastModifiedBy>Melissa Schnure</cp:lastModifiedBy>
  <cp:revision>19</cp:revision>
  <dcterms:created xsi:type="dcterms:W3CDTF">2025-05-07T16:20:02Z</dcterms:created>
  <dcterms:modified xsi:type="dcterms:W3CDTF">2026-06-03T14:09:50Z</dcterms:modified>
</cp:coreProperties>
</file>